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handoutMasterIdLst>
    <p:handoutMasterId r:id="rId12"/>
  </p:handoutMasterIdLst>
  <p:sldIdLst>
    <p:sldId id="256" r:id="rId2"/>
    <p:sldId id="287" r:id="rId3"/>
    <p:sldId id="283" r:id="rId4"/>
    <p:sldId id="285" r:id="rId5"/>
    <p:sldId id="276" r:id="rId6"/>
    <p:sldId id="288" r:id="rId7"/>
    <p:sldId id="289" r:id="rId8"/>
    <p:sldId id="266" r:id="rId9"/>
    <p:sldId id="268"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017" autoAdjust="0"/>
    <p:restoredTop sz="94660"/>
  </p:normalViewPr>
  <p:slideViewPr>
    <p:cSldViewPr snapToGrid="0" snapToObjects="1">
      <p:cViewPr>
        <p:scale>
          <a:sx n="70" d="100"/>
          <a:sy n="70" d="100"/>
        </p:scale>
        <p:origin x="1306" y="216"/>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r>
              <a:rPr lang="en-US" smtClean="0"/>
              <a:t>7/15/2026</a:t>
            </a:r>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037269-8FF4-49F3-A599-D9127865164E}" type="slidenum">
              <a:rPr lang="en-US" smtClean="0"/>
              <a:t>‹#›</a:t>
            </a:fld>
            <a:endParaRPr lang="en-US"/>
          </a:p>
        </p:txBody>
      </p:sp>
    </p:spTree>
    <p:extLst>
      <p:ext uri="{BB962C8B-B14F-4D97-AF65-F5344CB8AC3E}">
        <p14:creationId xmlns:p14="http://schemas.microsoft.com/office/powerpoint/2010/main" val="123212762"/>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r>
              <a:rPr lang="en-US" smtClean="0"/>
              <a:t>7/15/2026</a:t>
            </a:r>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2D299-3ADA-4F0D-9521-2D050523B87C}" type="slidenum">
              <a:rPr lang="en-US" smtClean="0"/>
              <a:t>‹#›</a:t>
            </a:fld>
            <a:endParaRPr lang="en-US"/>
          </a:p>
        </p:txBody>
      </p:sp>
    </p:spTree>
    <p:extLst>
      <p:ext uri="{BB962C8B-B14F-4D97-AF65-F5344CB8AC3E}">
        <p14:creationId xmlns:p14="http://schemas.microsoft.com/office/powerpoint/2010/main" val="2853981418"/>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613327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0CE065A-DA41-4EEA-BFC9-05254DE65087}" type="datetime1">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3F32F76-05E1-4CE5-9A2B-1D1CF643E8B3}" type="datetime1">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3EFB1D6-ABEA-481D-8637-A77620161B7C}" type="datetime1">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A313AF2-BE5F-46A0-B59F-267A13A65AED}" type="datetime1">
              <a:rPr lang="en-US" smtClean="0"/>
              <a:t>7/15/2026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E69D15B-C5A2-4864-94E4-13CE893DBAE0}" type="datetime1">
              <a:rPr lang="en-US" smtClean="0"/>
              <a:t>7/15/2026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4632B77-4E52-45F7-91EA-783F8691FA96}" type="datetime1">
              <a:rPr lang="en-US" smtClean="0"/>
              <a:t>7/15/2026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46F085-E958-4B7A-BE75-5DF3BBC9E44B}" type="datetime1">
              <a:rPr lang="en-US" smtClean="0"/>
              <a:t>7/15/2026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B705645-FF58-4713-9F1E-78F5D11CF2AE}" type="datetime1">
              <a:rPr lang="en-US" smtClean="0"/>
              <a:t>7/15/2026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37A9FE-01A9-4930-919C-6B65418BAA48}" type="datetime1">
              <a:rPr lang="en-US" smtClean="0"/>
              <a:t>7/15/2026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34E4750-AE79-4361-B988-734A46CF0FB9}" type="datetime1">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E4A759A-8CFF-45B2-9CE1-92D4C869A746}" type="datetime1">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C49CB2-1281-4951-84BB-E91FD3C472B7}" type="datetime1">
              <a:rPr lang="en-US" smtClean="0"/>
              <a:t>7/15/2026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69774" y="1976801"/>
            <a:ext cx="8852452" cy="1470025"/>
          </a:xfrm>
        </p:spPr>
        <p:txBody>
          <a:bodyPr>
            <a:normAutofit/>
          </a:bodyPr>
          <a:lstStyle/>
          <a:p>
            <a:r>
              <a:rPr lang="en-US" b="1" dirty="0">
                <a:solidFill>
                  <a:schemeClr val="tx2"/>
                </a:solidFill>
              </a:rPr>
              <a:t>Morphology and Word Formation in Natural Languages</a:t>
            </a:r>
            <a:endParaRPr b="1" dirty="0">
              <a:solidFill>
                <a:schemeClr val="tx2"/>
              </a:solidFill>
            </a:endParaRPr>
          </a:p>
        </p:txBody>
      </p:sp>
      <p:sp>
        <p:nvSpPr>
          <p:cNvPr id="3" name="Subtitle 2"/>
          <p:cNvSpPr>
            <a:spLocks noGrp="1"/>
          </p:cNvSpPr>
          <p:nvPr>
            <p:ph type="subTitle" idx="1"/>
          </p:nvPr>
        </p:nvSpPr>
        <p:spPr>
          <a:xfrm>
            <a:off x="1792356" y="3882093"/>
            <a:ext cx="8607287" cy="2690587"/>
          </a:xfrm>
        </p:spPr>
        <p:txBody>
          <a:bodyPr>
            <a:noAutofit/>
          </a:bodyPr>
          <a:lstStyle/>
          <a:p>
            <a:r>
              <a:rPr lang="en-US" sz="2400" b="1" dirty="0" smtClean="0">
                <a:solidFill>
                  <a:schemeClr val="tx1"/>
                </a:solidFill>
              </a:rPr>
              <a:t>DSA0302 – Natural Language Processing </a:t>
            </a:r>
          </a:p>
          <a:p>
            <a:r>
              <a:rPr lang="en-US" sz="2400" b="1" dirty="0" smtClean="0">
                <a:solidFill>
                  <a:schemeClr val="tx1"/>
                </a:solidFill>
              </a:rPr>
              <a:t>Assessment Tool 2 – CO1</a:t>
            </a:r>
            <a:endParaRPr lang="en-US" sz="2400" b="1" dirty="0" smtClean="0">
              <a:solidFill>
                <a:schemeClr val="tx1"/>
              </a:solidFill>
            </a:endParaRPr>
          </a:p>
          <a:p>
            <a:endParaRPr lang="en-US" sz="2400" dirty="0" smtClean="0">
              <a:solidFill>
                <a:schemeClr val="tx1"/>
              </a:solidFill>
            </a:endParaRPr>
          </a:p>
          <a:p>
            <a:pPr algn="l"/>
            <a:r>
              <a:rPr lang="en-US" sz="2100" b="1" dirty="0" smtClean="0">
                <a:solidFill>
                  <a:schemeClr val="tx1"/>
                </a:solidFill>
              </a:rPr>
              <a:t>     </a:t>
            </a:r>
            <a:r>
              <a:rPr lang="en-IN" sz="2100" b="1" dirty="0">
                <a:solidFill>
                  <a:schemeClr val="tx1"/>
                </a:solidFill>
              </a:rPr>
              <a:t>Guided </a:t>
            </a:r>
            <a:r>
              <a:rPr lang="en-IN" sz="2100" b="1" dirty="0" smtClean="0">
                <a:solidFill>
                  <a:schemeClr val="tx1"/>
                </a:solidFill>
              </a:rPr>
              <a:t>By:                                                                  </a:t>
            </a:r>
            <a:r>
              <a:rPr lang="en-US" sz="2100" b="1" dirty="0" smtClean="0">
                <a:solidFill>
                  <a:schemeClr val="tx1"/>
                </a:solidFill>
              </a:rPr>
              <a:t>Presented </a:t>
            </a:r>
            <a:r>
              <a:rPr lang="en-US" sz="2100" b="1" dirty="0" smtClean="0">
                <a:solidFill>
                  <a:schemeClr val="tx1"/>
                </a:solidFill>
              </a:rPr>
              <a:t>By:                                                                      </a:t>
            </a:r>
            <a:endParaRPr lang="en-IN" sz="2100" b="1" dirty="0">
              <a:solidFill>
                <a:schemeClr val="tx1"/>
              </a:solidFill>
            </a:endParaRPr>
          </a:p>
          <a:p>
            <a:pPr algn="l"/>
            <a:r>
              <a:rPr lang="en-IN" sz="2100" b="1" dirty="0">
                <a:solidFill>
                  <a:schemeClr val="tx1"/>
                </a:solidFill>
              </a:rPr>
              <a:t>     </a:t>
            </a:r>
            <a:r>
              <a:rPr lang="en-IN" sz="2100" dirty="0" err="1">
                <a:solidFill>
                  <a:schemeClr val="tx1"/>
                </a:solidFill>
              </a:rPr>
              <a:t>Dr.</a:t>
            </a:r>
            <a:r>
              <a:rPr lang="en-IN" sz="2100" dirty="0">
                <a:solidFill>
                  <a:schemeClr val="tx1"/>
                </a:solidFill>
              </a:rPr>
              <a:t> </a:t>
            </a:r>
            <a:r>
              <a:rPr lang="en-IN" sz="2100" dirty="0" smtClean="0">
                <a:solidFill>
                  <a:schemeClr val="tx1"/>
                </a:solidFill>
              </a:rPr>
              <a:t>T. Devi								</a:t>
            </a:r>
            <a:r>
              <a:rPr lang="en-IN" sz="2100" dirty="0" smtClean="0">
                <a:solidFill>
                  <a:schemeClr val="tx1"/>
                </a:solidFill>
              </a:rPr>
              <a:t>		Mohammed Rayan Shaikh </a:t>
            </a:r>
            <a:r>
              <a:rPr lang="en-IN" sz="2100" dirty="0" smtClean="0">
                <a:solidFill>
                  <a:schemeClr val="tx1"/>
                </a:solidFill>
              </a:rPr>
              <a:t>												(</a:t>
            </a:r>
            <a:r>
              <a:rPr lang="en-US" sz="2100" dirty="0">
                <a:solidFill>
                  <a:schemeClr val="tx1"/>
                </a:solidFill>
              </a:rPr>
              <a:t>192424059)</a:t>
            </a:r>
          </a:p>
          <a:p>
            <a:pPr algn="l"/>
            <a:r>
              <a:rPr lang="en-US" sz="2100" dirty="0" smtClean="0">
                <a:solidFill>
                  <a:schemeClr val="tx1"/>
                </a:solidFill>
              </a:rPr>
              <a:t>			</a:t>
            </a:r>
            <a:endParaRPr sz="2100" dirty="0">
              <a:solidFill>
                <a:schemeClr val="bg1"/>
              </a:solidFill>
            </a:endParaRPr>
          </a:p>
        </p:txBody>
      </p:sp>
      <p:pic>
        <p:nvPicPr>
          <p:cNvPr id="5" name="Picture 4"/>
          <p:cNvPicPr/>
          <p:nvPr/>
        </p:nvPicPr>
        <p:blipFill>
          <a:blip r:embed="rId3"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6" name="Picture 5"/>
          <p:cNvPicPr/>
          <p:nvPr/>
        </p:nvPicPr>
        <p:blipFill>
          <a:blip r:embed="rId4">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2469" y="291568"/>
            <a:ext cx="9021763" cy="1143000"/>
          </a:xfrm>
        </p:spPr>
        <p:txBody>
          <a:bodyPr>
            <a:normAutofit/>
          </a:bodyPr>
          <a:lstStyle/>
          <a:p>
            <a:r>
              <a:rPr lang="en-US" sz="4000" b="1" dirty="0" smtClean="0"/>
              <a:t>INTRODUCTION</a:t>
            </a:r>
            <a:endParaRPr lang="en-US" sz="4000" b="1" dirty="0"/>
          </a:p>
        </p:txBody>
      </p:sp>
      <p:sp>
        <p:nvSpPr>
          <p:cNvPr id="3" name="Content Placeholder 2"/>
          <p:cNvSpPr>
            <a:spLocks noGrp="1"/>
          </p:cNvSpPr>
          <p:nvPr>
            <p:ph idx="1"/>
          </p:nvPr>
        </p:nvSpPr>
        <p:spPr>
          <a:xfrm>
            <a:off x="1492469" y="1999063"/>
            <a:ext cx="6458836" cy="3703117"/>
          </a:xfrm>
        </p:spPr>
        <p:txBody>
          <a:bodyPr>
            <a:noAutofit/>
          </a:bodyPr>
          <a:lstStyle/>
          <a:p>
            <a:pPr marL="0" indent="0" algn="ctr">
              <a:buNone/>
            </a:pPr>
            <a:r>
              <a:rPr lang="en-US" sz="2400" b="1" dirty="0"/>
              <a:t>What is Morphology</a:t>
            </a:r>
            <a:r>
              <a:rPr lang="en-US" sz="2400" b="1" dirty="0" smtClean="0"/>
              <a:t>?</a:t>
            </a:r>
          </a:p>
          <a:p>
            <a:pPr marL="0" indent="0" algn="ctr">
              <a:buNone/>
            </a:pPr>
            <a:endParaRPr lang="en-US" sz="2400" b="1" dirty="0"/>
          </a:p>
          <a:p>
            <a:pPr marL="0" indent="0" algn="just">
              <a:buNone/>
            </a:pPr>
            <a:r>
              <a:rPr lang="en-US" sz="2400" dirty="0"/>
              <a:t>Morphology is the study of how words are </a:t>
            </a:r>
            <a:r>
              <a:rPr lang="en-US" sz="2400" dirty="0" smtClean="0"/>
              <a:t>formed. It </a:t>
            </a:r>
            <a:r>
              <a:rPr lang="en-US" sz="2400" dirty="0"/>
              <a:t>explains how smaller meaningful units called </a:t>
            </a:r>
            <a:r>
              <a:rPr lang="en-US" sz="2400" b="1" dirty="0"/>
              <a:t>morphemes</a:t>
            </a:r>
            <a:r>
              <a:rPr lang="en-US" sz="2400" dirty="0"/>
              <a:t> combine to create words. </a:t>
            </a:r>
            <a:r>
              <a:rPr lang="en-US" sz="2400" dirty="0" smtClean="0"/>
              <a:t>Understanding </a:t>
            </a:r>
            <a:r>
              <a:rPr lang="en-US" sz="2400" dirty="0"/>
              <a:t>morphology helps computers process language more accurately in Natural Language </a:t>
            </a:r>
            <a:r>
              <a:rPr lang="en-US" sz="2400" dirty="0" smtClean="0"/>
              <a:t>Processing.</a:t>
            </a:r>
            <a:endParaRPr lang="en-US" sz="2400" dirty="0"/>
          </a:p>
        </p:txBody>
      </p:sp>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pic>
        <p:nvPicPr>
          <p:cNvPr id="6" name="Picture 5"/>
          <p:cNvPicPr>
            <a:picLocks noChangeAspect="1"/>
          </p:cNvPicPr>
          <p:nvPr/>
        </p:nvPicPr>
        <p:blipFill rotWithShape="1">
          <a:blip r:embed="rId4"/>
          <a:srcRect l="25985"/>
          <a:stretch/>
        </p:blipFill>
        <p:spPr>
          <a:xfrm>
            <a:off x="8514522" y="1672100"/>
            <a:ext cx="3177209" cy="4357044"/>
          </a:xfrm>
          <a:prstGeom prst="rect">
            <a:avLst/>
          </a:prstGeom>
        </p:spPr>
      </p:pic>
    </p:spTree>
    <p:extLst>
      <p:ext uri="{BB962C8B-B14F-4D97-AF65-F5344CB8AC3E}">
        <p14:creationId xmlns:p14="http://schemas.microsoft.com/office/powerpoint/2010/main" val="382625449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2469" y="287533"/>
            <a:ext cx="9021763" cy="1143000"/>
          </a:xfrm>
        </p:spPr>
        <p:txBody>
          <a:bodyPr>
            <a:normAutofit/>
          </a:bodyPr>
          <a:lstStyle/>
          <a:p>
            <a:r>
              <a:rPr lang="en-US" sz="4000" b="1" dirty="0"/>
              <a:t>Morphemes and Word Formation</a:t>
            </a:r>
            <a:endParaRPr lang="en-US" sz="4000" b="1" dirty="0"/>
          </a:p>
        </p:txBody>
      </p:sp>
      <p:sp>
        <p:nvSpPr>
          <p:cNvPr id="3" name="Content Placeholder 2"/>
          <p:cNvSpPr>
            <a:spLocks noGrp="1"/>
          </p:cNvSpPr>
          <p:nvPr>
            <p:ph idx="1"/>
          </p:nvPr>
        </p:nvSpPr>
        <p:spPr>
          <a:xfrm>
            <a:off x="1492469" y="1534510"/>
            <a:ext cx="6856401" cy="5154525"/>
          </a:xfrm>
        </p:spPr>
        <p:txBody>
          <a:bodyPr>
            <a:noAutofit/>
          </a:bodyPr>
          <a:lstStyle/>
          <a:p>
            <a:pPr marL="0" indent="0" algn="ctr">
              <a:lnSpc>
                <a:spcPct val="120000"/>
              </a:lnSpc>
              <a:buNone/>
            </a:pPr>
            <a:r>
              <a:rPr lang="en-US" sz="2000" b="1" dirty="0"/>
              <a:t>What are Morphemes</a:t>
            </a:r>
            <a:r>
              <a:rPr lang="en-US" sz="2000" b="1" dirty="0" smtClean="0"/>
              <a:t>?</a:t>
            </a:r>
            <a:endParaRPr lang="en-US" sz="2000" b="1" dirty="0"/>
          </a:p>
          <a:p>
            <a:pPr marL="0" indent="0" algn="just">
              <a:lnSpc>
                <a:spcPct val="120000"/>
              </a:lnSpc>
              <a:buNone/>
            </a:pPr>
            <a:r>
              <a:rPr lang="en-US" sz="2000" dirty="0"/>
              <a:t>A morpheme is the smallest meaningful unit of a word. Words may consist of a single morpheme or multiple morphemes combined together. </a:t>
            </a:r>
          </a:p>
          <a:p>
            <a:pPr marL="0" indent="0" algn="just">
              <a:lnSpc>
                <a:spcPct val="120000"/>
              </a:lnSpc>
              <a:buNone/>
            </a:pPr>
            <a:r>
              <a:rPr lang="en-US" sz="2000" b="1" dirty="0"/>
              <a:t>Types of </a:t>
            </a:r>
            <a:r>
              <a:rPr lang="en-US" sz="2000" b="1" dirty="0" smtClean="0"/>
              <a:t>Morphemes</a:t>
            </a:r>
            <a:endParaRPr lang="en-US" sz="2000" b="1" dirty="0"/>
          </a:p>
          <a:p>
            <a:pPr marL="0" indent="0" algn="just">
              <a:lnSpc>
                <a:spcPct val="120000"/>
              </a:lnSpc>
              <a:buNone/>
            </a:pPr>
            <a:r>
              <a:rPr lang="en-US" sz="2000" b="1" dirty="0" smtClean="0"/>
              <a:t>	</a:t>
            </a:r>
            <a:r>
              <a:rPr lang="en-US" sz="1800" b="1" dirty="0"/>
              <a:t>1</a:t>
            </a:r>
            <a:r>
              <a:rPr lang="en-US" sz="1800" b="1" dirty="0"/>
              <a:t>.</a:t>
            </a:r>
            <a:r>
              <a:rPr lang="en-US" sz="2000" b="1" dirty="0"/>
              <a:t> </a:t>
            </a:r>
            <a:r>
              <a:rPr lang="en-US" sz="1800" b="1" dirty="0"/>
              <a:t>Free </a:t>
            </a:r>
            <a:r>
              <a:rPr lang="en-US" sz="1800" b="1" dirty="0" smtClean="0"/>
              <a:t>Morphemes</a:t>
            </a:r>
            <a:endParaRPr lang="en-US" sz="1800" b="1" dirty="0"/>
          </a:p>
          <a:p>
            <a:pPr lvl="1" algn="just">
              <a:lnSpc>
                <a:spcPct val="120000"/>
              </a:lnSpc>
              <a:buFont typeface="Arial" panose="020B0604020202020204" pitchFamily="34" charset="0"/>
              <a:buChar char="•"/>
            </a:pPr>
            <a:r>
              <a:rPr lang="en-US" sz="1800" dirty="0"/>
              <a:t>Can stand alone as independent words.</a:t>
            </a:r>
          </a:p>
          <a:p>
            <a:pPr lvl="1" algn="just">
              <a:lnSpc>
                <a:spcPct val="120000"/>
              </a:lnSpc>
              <a:buFont typeface="Arial" panose="020B0604020202020204" pitchFamily="34" charset="0"/>
              <a:buChar char="•"/>
            </a:pPr>
            <a:r>
              <a:rPr lang="en-US" sz="1800" dirty="0"/>
              <a:t>They carry meaning without requiring any additional element.</a:t>
            </a:r>
          </a:p>
          <a:p>
            <a:pPr lvl="1" algn="just">
              <a:lnSpc>
                <a:spcPct val="120000"/>
              </a:lnSpc>
              <a:buFont typeface="Arial" panose="020B0604020202020204" pitchFamily="34" charset="0"/>
              <a:buChar char="•"/>
            </a:pPr>
            <a:r>
              <a:rPr lang="en-US" sz="1800" dirty="0"/>
              <a:t>Examples: book, tree, run, happy, </a:t>
            </a:r>
            <a:r>
              <a:rPr lang="en-US" sz="1800" dirty="0" smtClean="0"/>
              <a:t>school</a:t>
            </a:r>
            <a:endParaRPr lang="en-US" sz="1800" dirty="0"/>
          </a:p>
          <a:p>
            <a:pPr marL="0" indent="0" algn="just">
              <a:lnSpc>
                <a:spcPct val="120000"/>
              </a:lnSpc>
              <a:buNone/>
            </a:pPr>
            <a:r>
              <a:rPr lang="en-US" sz="1800" b="1" dirty="0" smtClean="0"/>
              <a:t>	2</a:t>
            </a:r>
            <a:r>
              <a:rPr lang="en-US" sz="1800" b="1" dirty="0"/>
              <a:t>. Bound </a:t>
            </a:r>
            <a:r>
              <a:rPr lang="en-US" sz="1800" b="1" dirty="0" smtClean="0"/>
              <a:t>Morphemes</a:t>
            </a:r>
            <a:endParaRPr lang="en-US" sz="1800" b="1" dirty="0"/>
          </a:p>
          <a:p>
            <a:pPr lvl="1" algn="just">
              <a:lnSpc>
                <a:spcPct val="120000"/>
              </a:lnSpc>
              <a:buFont typeface="Arial" panose="020B0604020202020204" pitchFamily="34" charset="0"/>
              <a:buChar char="•"/>
            </a:pPr>
            <a:r>
              <a:rPr lang="en-US" sz="1800" dirty="0"/>
              <a:t>Cannot stand alone and must be attached to a free morpheme.</a:t>
            </a:r>
          </a:p>
          <a:p>
            <a:pPr lvl="1" algn="just">
              <a:lnSpc>
                <a:spcPct val="120000"/>
              </a:lnSpc>
              <a:buFont typeface="Arial" panose="020B0604020202020204" pitchFamily="34" charset="0"/>
              <a:buChar char="•"/>
            </a:pPr>
            <a:r>
              <a:rPr lang="en-US" sz="1800" dirty="0"/>
              <a:t>They modify the meaning or grammatical form of a word.</a:t>
            </a:r>
          </a:p>
          <a:p>
            <a:pPr lvl="1" algn="just">
              <a:lnSpc>
                <a:spcPct val="120000"/>
              </a:lnSpc>
              <a:buFont typeface="Arial" panose="020B0604020202020204" pitchFamily="34" charset="0"/>
              <a:buChar char="•"/>
            </a:pPr>
            <a:r>
              <a:rPr lang="en-US" sz="1800" dirty="0"/>
              <a:t>Examples: un-, re-, -</a:t>
            </a:r>
            <a:r>
              <a:rPr lang="en-US" sz="1800" dirty="0" err="1"/>
              <a:t>ed</a:t>
            </a:r>
            <a:r>
              <a:rPr lang="en-US" sz="1800" dirty="0"/>
              <a:t>, -</a:t>
            </a:r>
            <a:r>
              <a:rPr lang="en-US" sz="1800" dirty="0" err="1"/>
              <a:t>ing</a:t>
            </a:r>
            <a:r>
              <a:rPr lang="en-US" sz="1800" dirty="0"/>
              <a:t>, -</a:t>
            </a:r>
            <a:r>
              <a:rPr lang="en-US" sz="1800" dirty="0" smtClean="0"/>
              <a:t>s</a:t>
            </a:r>
            <a:endParaRPr lang="en-US" sz="1800" dirty="0"/>
          </a:p>
        </p:txBody>
      </p:sp>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pic>
        <p:nvPicPr>
          <p:cNvPr id="8" name="Picture 7"/>
          <p:cNvPicPr>
            <a:picLocks noChangeAspect="1"/>
          </p:cNvPicPr>
          <p:nvPr/>
        </p:nvPicPr>
        <p:blipFill rotWithShape="1">
          <a:blip r:embed="rId4"/>
          <a:srcRect t="10123" b="23371"/>
          <a:stretch/>
        </p:blipFill>
        <p:spPr>
          <a:xfrm>
            <a:off x="8399820" y="2733261"/>
            <a:ext cx="3634525" cy="2417150"/>
          </a:xfrm>
          <a:prstGeom prst="rect">
            <a:avLst/>
          </a:prstGeom>
        </p:spPr>
      </p:pic>
    </p:spTree>
    <p:extLst>
      <p:ext uri="{BB962C8B-B14F-4D97-AF65-F5344CB8AC3E}">
        <p14:creationId xmlns:p14="http://schemas.microsoft.com/office/powerpoint/2010/main" val="175555765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2470" y="294901"/>
            <a:ext cx="9021763" cy="1143000"/>
          </a:xfrm>
        </p:spPr>
        <p:txBody>
          <a:bodyPr>
            <a:normAutofit/>
          </a:bodyPr>
          <a:lstStyle/>
          <a:p>
            <a:r>
              <a:rPr lang="en-US" sz="4000" b="1" dirty="0" smtClean="0"/>
              <a:t>Word Formation</a:t>
            </a:r>
            <a:endParaRPr lang="en-US" sz="4000" b="1" dirty="0"/>
          </a:p>
        </p:txBody>
      </p:sp>
      <p:sp>
        <p:nvSpPr>
          <p:cNvPr id="3" name="Content Placeholder 2"/>
          <p:cNvSpPr>
            <a:spLocks noGrp="1"/>
          </p:cNvSpPr>
          <p:nvPr>
            <p:ph idx="1"/>
          </p:nvPr>
        </p:nvSpPr>
        <p:spPr>
          <a:xfrm>
            <a:off x="1492470" y="1556714"/>
            <a:ext cx="9021762" cy="5096448"/>
          </a:xfrm>
        </p:spPr>
        <p:txBody>
          <a:bodyPr>
            <a:noAutofit/>
          </a:bodyPr>
          <a:lstStyle/>
          <a:p>
            <a:pPr marL="0" indent="0" algn="just">
              <a:lnSpc>
                <a:spcPct val="120000"/>
              </a:lnSpc>
              <a:buNone/>
            </a:pPr>
            <a:r>
              <a:rPr lang="en-US" sz="2000" b="1" dirty="0"/>
              <a:t>Word Formation Processes</a:t>
            </a:r>
          </a:p>
          <a:p>
            <a:pPr marL="457200" indent="-457200">
              <a:lnSpc>
                <a:spcPct val="120000"/>
              </a:lnSpc>
              <a:buFont typeface="+mj-lt"/>
              <a:buAutoNum type="arabicPeriod"/>
            </a:pPr>
            <a:r>
              <a:rPr lang="en-US" sz="2000" b="1" dirty="0" err="1"/>
              <a:t>Prefixation</a:t>
            </a:r>
            <a:r>
              <a:rPr lang="en-US" sz="2000" b="1" dirty="0"/>
              <a:t>: </a:t>
            </a:r>
            <a:r>
              <a:rPr lang="en-US" sz="2000" dirty="0"/>
              <a:t>Adding a prefix before the root </a:t>
            </a:r>
            <a:r>
              <a:rPr lang="en-US" sz="2000" dirty="0" smtClean="0"/>
              <a:t>word.</a:t>
            </a:r>
            <a:br>
              <a:rPr lang="en-US" sz="2000" dirty="0" smtClean="0"/>
            </a:br>
            <a:r>
              <a:rPr lang="en-US" sz="2000" dirty="0" smtClean="0"/>
              <a:t>happy </a:t>
            </a:r>
            <a:r>
              <a:rPr lang="en-US" sz="2000" dirty="0"/>
              <a:t>→ unhappy</a:t>
            </a:r>
          </a:p>
          <a:p>
            <a:pPr marL="457200" indent="-457200">
              <a:lnSpc>
                <a:spcPct val="120000"/>
              </a:lnSpc>
              <a:buFont typeface="+mj-lt"/>
              <a:buAutoNum type="arabicPeriod"/>
            </a:pPr>
            <a:r>
              <a:rPr lang="en-US" sz="2000" b="1" dirty="0"/>
              <a:t>Suffixation: </a:t>
            </a:r>
            <a:r>
              <a:rPr lang="en-US" sz="2000" dirty="0"/>
              <a:t>Adding a suffix after the root </a:t>
            </a:r>
            <a:r>
              <a:rPr lang="en-US" sz="2000" dirty="0" smtClean="0"/>
              <a:t>word.</a:t>
            </a:r>
            <a:br>
              <a:rPr lang="en-US" sz="2000" dirty="0" smtClean="0"/>
            </a:br>
            <a:r>
              <a:rPr lang="en-US" sz="2000" dirty="0" smtClean="0"/>
              <a:t>teach </a:t>
            </a:r>
            <a:r>
              <a:rPr lang="en-US" sz="2000" dirty="0"/>
              <a:t>→ teacher</a:t>
            </a:r>
          </a:p>
          <a:p>
            <a:pPr marL="457200" indent="-457200">
              <a:lnSpc>
                <a:spcPct val="120000"/>
              </a:lnSpc>
              <a:buFont typeface="+mj-lt"/>
              <a:buAutoNum type="arabicPeriod"/>
            </a:pPr>
            <a:r>
              <a:rPr lang="en-US" sz="2000" b="1" dirty="0"/>
              <a:t>Compounding: </a:t>
            </a:r>
            <a:r>
              <a:rPr lang="en-US" sz="2000" dirty="0"/>
              <a:t>Combining two independent </a:t>
            </a:r>
            <a:r>
              <a:rPr lang="en-US" sz="2000" dirty="0" smtClean="0"/>
              <a:t>words.</a:t>
            </a:r>
            <a:br>
              <a:rPr lang="en-US" sz="2000" dirty="0" smtClean="0"/>
            </a:br>
            <a:r>
              <a:rPr lang="en-US" sz="2000" dirty="0" smtClean="0"/>
              <a:t>black </a:t>
            </a:r>
            <a:r>
              <a:rPr lang="en-US" sz="2000" dirty="0"/>
              <a:t>+ board → blackboard</a:t>
            </a:r>
          </a:p>
          <a:p>
            <a:pPr marL="457200" indent="-457200">
              <a:lnSpc>
                <a:spcPct val="120000"/>
              </a:lnSpc>
              <a:buFont typeface="+mj-lt"/>
              <a:buAutoNum type="arabicPeriod"/>
            </a:pPr>
            <a:r>
              <a:rPr lang="en-US" sz="2000" b="1" dirty="0"/>
              <a:t>Inflection: </a:t>
            </a:r>
            <a:r>
              <a:rPr lang="en-US" sz="2000" dirty="0"/>
              <a:t>Changing a word to express grammatical information such as tense, number, or </a:t>
            </a:r>
            <a:r>
              <a:rPr lang="en-US" sz="2000" dirty="0" smtClean="0"/>
              <a:t>degree.</a:t>
            </a:r>
            <a:br>
              <a:rPr lang="en-US" sz="2000" dirty="0" smtClean="0"/>
            </a:br>
            <a:r>
              <a:rPr lang="en-US" sz="2000" dirty="0" smtClean="0"/>
              <a:t>walk </a:t>
            </a:r>
            <a:r>
              <a:rPr lang="en-US" sz="2000" dirty="0"/>
              <a:t>→ walked, book → books</a:t>
            </a:r>
          </a:p>
          <a:p>
            <a:pPr marL="457200" indent="-457200">
              <a:lnSpc>
                <a:spcPct val="120000"/>
              </a:lnSpc>
              <a:buFont typeface="+mj-lt"/>
              <a:buAutoNum type="arabicPeriod"/>
            </a:pPr>
            <a:r>
              <a:rPr lang="en-US" sz="2000" b="1" dirty="0"/>
              <a:t>Derivation: </a:t>
            </a:r>
            <a:r>
              <a:rPr lang="en-US" sz="2000" dirty="0"/>
              <a:t>Forming a new word with a different meaning or part of </a:t>
            </a:r>
            <a:r>
              <a:rPr lang="en-US" sz="2000" dirty="0" smtClean="0"/>
              <a:t>speech.</a:t>
            </a:r>
            <a:br>
              <a:rPr lang="en-US" sz="2000" dirty="0" smtClean="0"/>
            </a:br>
            <a:r>
              <a:rPr lang="en-US" sz="2000" dirty="0" smtClean="0"/>
              <a:t>beauty </a:t>
            </a:r>
            <a:r>
              <a:rPr lang="en-US" sz="2000" dirty="0"/>
              <a:t>→ beautiful, kind → kindness</a:t>
            </a:r>
          </a:p>
        </p:txBody>
      </p:sp>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spTree>
    <p:extLst>
      <p:ext uri="{BB962C8B-B14F-4D97-AF65-F5344CB8AC3E}">
        <p14:creationId xmlns:p14="http://schemas.microsoft.com/office/powerpoint/2010/main" val="3991120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082F3-424B-9645-9185-D3861993FD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1ED024-BF08-52BE-9403-964C49692ABA}"/>
              </a:ext>
            </a:extLst>
          </p:cNvPr>
          <p:cNvSpPr>
            <a:spLocks noGrp="1"/>
          </p:cNvSpPr>
          <p:nvPr>
            <p:ph type="title"/>
          </p:nvPr>
        </p:nvSpPr>
        <p:spPr>
          <a:xfrm>
            <a:off x="1492469" y="380049"/>
            <a:ext cx="9021763" cy="966038"/>
          </a:xfrm>
        </p:spPr>
        <p:txBody>
          <a:bodyPr>
            <a:noAutofit/>
          </a:bodyPr>
          <a:lstStyle/>
          <a:p>
            <a:r>
              <a:rPr lang="en-US" sz="4000" b="1" dirty="0"/>
              <a:t>Morphological Analysis </a:t>
            </a:r>
            <a:endParaRPr lang="en-US" sz="3200" b="1" dirty="0"/>
          </a:p>
        </p:txBody>
      </p:sp>
      <p:sp>
        <p:nvSpPr>
          <p:cNvPr id="3" name="Content Placeholder 2">
            <a:extLst>
              <a:ext uri="{FF2B5EF4-FFF2-40B4-BE49-F238E27FC236}">
                <a16:creationId xmlns:a16="http://schemas.microsoft.com/office/drawing/2014/main" id="{050F7664-AFEB-FC3F-3713-B80FC8F4B001}"/>
              </a:ext>
            </a:extLst>
          </p:cNvPr>
          <p:cNvSpPr>
            <a:spLocks noGrp="1"/>
          </p:cNvSpPr>
          <p:nvPr>
            <p:ph idx="1"/>
          </p:nvPr>
        </p:nvSpPr>
        <p:spPr>
          <a:xfrm>
            <a:off x="1492469" y="2017107"/>
            <a:ext cx="7333098" cy="1806981"/>
          </a:xfrm>
        </p:spPr>
        <p:txBody>
          <a:bodyPr>
            <a:noAutofit/>
          </a:bodyPr>
          <a:lstStyle/>
          <a:p>
            <a:pPr marL="0" indent="0">
              <a:buNone/>
            </a:pPr>
            <a:r>
              <a:rPr lang="en-US" sz="2000" b="1" dirty="0" smtClean="0"/>
              <a:t>What is Morphological Analysis?</a:t>
            </a:r>
          </a:p>
          <a:p>
            <a:pPr marL="0" indent="0">
              <a:buNone/>
            </a:pPr>
            <a:r>
              <a:rPr lang="en-US" sz="2000" dirty="0" smtClean="0"/>
              <a:t>Morphological </a:t>
            </a:r>
            <a:r>
              <a:rPr lang="en-US" sz="2000" dirty="0"/>
              <a:t>analysis is the process of breaking words into their basic morphemes to identify the root word and understand its grammatical structure. It enables NLP systems to recognize different forms of the same word and interpret </a:t>
            </a:r>
            <a:r>
              <a:rPr lang="en-US" sz="2000" dirty="0" smtClean="0"/>
              <a:t>their </a:t>
            </a:r>
            <a:r>
              <a:rPr lang="en-US" sz="2000" dirty="0"/>
              <a:t>meanings correctly</a:t>
            </a:r>
            <a:r>
              <a:rPr lang="en-US" sz="2000" dirty="0" smtClean="0"/>
              <a:t>.</a:t>
            </a:r>
          </a:p>
          <a:p>
            <a:pPr marL="0" indent="0">
              <a:buNone/>
            </a:pPr>
            <a:endParaRPr lang="en-US" sz="2400" dirty="0" smtClean="0"/>
          </a:p>
          <a:p>
            <a:pPr marL="0" indent="0">
              <a:buNone/>
            </a:pPr>
            <a:endParaRPr lang="en-US" sz="2400" dirty="0"/>
          </a:p>
          <a:p>
            <a:pPr marL="0" indent="0">
              <a:buNone/>
            </a:pPr>
            <a:endParaRPr lang="en-US" sz="2400" dirty="0" smtClean="0"/>
          </a:p>
          <a:p>
            <a:pPr marL="0" indent="0" algn="just">
              <a:buNone/>
            </a:pPr>
            <a:endParaRPr lang="en-US" sz="2000" dirty="0"/>
          </a:p>
        </p:txBody>
      </p:sp>
      <p:pic>
        <p:nvPicPr>
          <p:cNvPr id="4" name="Picture 3">
            <a:extLst>
              <a:ext uri="{FF2B5EF4-FFF2-40B4-BE49-F238E27FC236}">
                <a16:creationId xmlns:a16="http://schemas.microsoft.com/office/drawing/2014/main" id="{F52EEF27-13AE-A3CF-CDA4-22FC847092FA}"/>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5" name="Picture 4">
            <a:extLst>
              <a:ext uri="{FF2B5EF4-FFF2-40B4-BE49-F238E27FC236}">
                <a16:creationId xmlns:a16="http://schemas.microsoft.com/office/drawing/2014/main" id="{B0611387-F2B3-1252-D6BD-930F31FA5AE1}"/>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graphicFrame>
        <p:nvGraphicFramePr>
          <p:cNvPr id="7" name="Table 6"/>
          <p:cNvGraphicFramePr>
            <a:graphicFrameLocks noGrp="1"/>
          </p:cNvGraphicFramePr>
          <p:nvPr>
            <p:extLst>
              <p:ext uri="{D42A27DB-BD31-4B8C-83A1-F6EECF244321}">
                <p14:modId xmlns:p14="http://schemas.microsoft.com/office/powerpoint/2010/main" val="132525335"/>
              </p:ext>
            </p:extLst>
          </p:nvPr>
        </p:nvGraphicFramePr>
        <p:xfrm>
          <a:off x="1661244" y="4159541"/>
          <a:ext cx="6995547" cy="1651000"/>
        </p:xfrm>
        <a:graphic>
          <a:graphicData uri="http://schemas.openxmlformats.org/drawingml/2006/table">
            <a:tbl>
              <a:tblPr firstRow="1" bandRow="1">
                <a:tableStyleId>{5940675A-B579-460E-94D1-54222C63F5DA}</a:tableStyleId>
              </a:tblPr>
              <a:tblGrid>
                <a:gridCol w="2331849">
                  <a:extLst>
                    <a:ext uri="{9D8B030D-6E8A-4147-A177-3AD203B41FA5}">
                      <a16:colId xmlns:a16="http://schemas.microsoft.com/office/drawing/2014/main" val="1295542049"/>
                    </a:ext>
                  </a:extLst>
                </a:gridCol>
                <a:gridCol w="2331849">
                  <a:extLst>
                    <a:ext uri="{9D8B030D-6E8A-4147-A177-3AD203B41FA5}">
                      <a16:colId xmlns:a16="http://schemas.microsoft.com/office/drawing/2014/main" val="1601501607"/>
                    </a:ext>
                  </a:extLst>
                </a:gridCol>
                <a:gridCol w="2331849">
                  <a:extLst>
                    <a:ext uri="{9D8B030D-6E8A-4147-A177-3AD203B41FA5}">
                      <a16:colId xmlns:a16="http://schemas.microsoft.com/office/drawing/2014/main" val="4248841398"/>
                    </a:ext>
                  </a:extLst>
                </a:gridCol>
              </a:tblGrid>
              <a:tr h="370840">
                <a:tc>
                  <a:txBody>
                    <a:bodyPr/>
                    <a:lstStyle/>
                    <a:p>
                      <a:pPr algn="ctr"/>
                      <a:r>
                        <a:rPr lang="en-US" sz="1800" b="1" dirty="0"/>
                        <a:t>Word</a:t>
                      </a:r>
                    </a:p>
                  </a:txBody>
                  <a:tcPr anchor="ctr"/>
                </a:tc>
                <a:tc>
                  <a:txBody>
                    <a:bodyPr/>
                    <a:lstStyle/>
                    <a:p>
                      <a:pPr algn="ctr"/>
                      <a:r>
                        <a:rPr lang="en-US" sz="1800" b="1" dirty="0"/>
                        <a:t>Root Word</a:t>
                      </a:r>
                    </a:p>
                  </a:txBody>
                  <a:tcPr anchor="ctr"/>
                </a:tc>
                <a:tc>
                  <a:txBody>
                    <a:bodyPr/>
                    <a:lstStyle/>
                    <a:p>
                      <a:pPr algn="ctr"/>
                      <a:r>
                        <a:rPr lang="en-US" sz="1800" b="1" dirty="0"/>
                        <a:t>Morphological Information</a:t>
                      </a:r>
                    </a:p>
                  </a:txBody>
                  <a:tcPr anchor="ctr"/>
                </a:tc>
                <a:extLst>
                  <a:ext uri="{0D108BD9-81ED-4DB2-BD59-A6C34878D82A}">
                    <a16:rowId xmlns:a16="http://schemas.microsoft.com/office/drawing/2014/main" val="2189249734"/>
                  </a:ext>
                </a:extLst>
              </a:tr>
              <a:tr h="370840">
                <a:tc>
                  <a:txBody>
                    <a:bodyPr/>
                    <a:lstStyle/>
                    <a:p>
                      <a:pPr algn="ctr"/>
                      <a:r>
                        <a:rPr lang="en-US" sz="1800" dirty="0"/>
                        <a:t>Playing</a:t>
                      </a:r>
                    </a:p>
                  </a:txBody>
                  <a:tcPr anchor="ctr"/>
                </a:tc>
                <a:tc>
                  <a:txBody>
                    <a:bodyPr/>
                    <a:lstStyle/>
                    <a:p>
                      <a:pPr algn="ctr"/>
                      <a:r>
                        <a:rPr lang="en-US" sz="1800" dirty="0"/>
                        <a:t>Play</a:t>
                      </a:r>
                    </a:p>
                  </a:txBody>
                  <a:tcPr anchor="ctr"/>
                </a:tc>
                <a:tc>
                  <a:txBody>
                    <a:bodyPr/>
                    <a:lstStyle/>
                    <a:p>
                      <a:r>
                        <a:rPr lang="en-US" sz="1800" dirty="0"/>
                        <a:t>Verb + Present Participle (-</a:t>
                      </a:r>
                      <a:r>
                        <a:rPr lang="en-US" sz="1800" dirty="0" err="1"/>
                        <a:t>ing</a:t>
                      </a:r>
                      <a:r>
                        <a:rPr lang="en-US" sz="1800" dirty="0"/>
                        <a:t>)</a:t>
                      </a:r>
                    </a:p>
                  </a:txBody>
                  <a:tcPr anchor="ctr"/>
                </a:tc>
                <a:extLst>
                  <a:ext uri="{0D108BD9-81ED-4DB2-BD59-A6C34878D82A}">
                    <a16:rowId xmlns:a16="http://schemas.microsoft.com/office/drawing/2014/main" val="266708795"/>
                  </a:ext>
                </a:extLst>
              </a:tr>
              <a:tr h="370840">
                <a:tc>
                  <a:txBody>
                    <a:bodyPr/>
                    <a:lstStyle/>
                    <a:p>
                      <a:pPr algn="ctr"/>
                      <a:r>
                        <a:rPr lang="en-US" sz="1800"/>
                        <a:t>Walked</a:t>
                      </a:r>
                    </a:p>
                  </a:txBody>
                  <a:tcPr anchor="ctr"/>
                </a:tc>
                <a:tc>
                  <a:txBody>
                    <a:bodyPr/>
                    <a:lstStyle/>
                    <a:p>
                      <a:pPr algn="ctr"/>
                      <a:r>
                        <a:rPr lang="en-US" sz="1800" dirty="0"/>
                        <a:t>Walk</a:t>
                      </a:r>
                    </a:p>
                  </a:txBody>
                  <a:tcPr anchor="ctr"/>
                </a:tc>
                <a:tc>
                  <a:txBody>
                    <a:bodyPr/>
                    <a:lstStyle/>
                    <a:p>
                      <a:r>
                        <a:rPr lang="en-US" sz="1800" dirty="0"/>
                        <a:t>Verb + Past Tense (-</a:t>
                      </a:r>
                      <a:r>
                        <a:rPr lang="en-US" sz="1800" dirty="0" err="1"/>
                        <a:t>ed</a:t>
                      </a:r>
                      <a:r>
                        <a:rPr lang="en-US" sz="1800" dirty="0"/>
                        <a:t>)</a:t>
                      </a:r>
                    </a:p>
                  </a:txBody>
                  <a:tcPr anchor="ctr"/>
                </a:tc>
                <a:extLst>
                  <a:ext uri="{0D108BD9-81ED-4DB2-BD59-A6C34878D82A}">
                    <a16:rowId xmlns:a16="http://schemas.microsoft.com/office/drawing/2014/main" val="1454780866"/>
                  </a:ext>
                </a:extLst>
              </a:tr>
            </a:tbl>
          </a:graphicData>
        </a:graphic>
      </p:graphicFrame>
      <p:pic>
        <p:nvPicPr>
          <p:cNvPr id="8" name="Picture 7"/>
          <p:cNvPicPr>
            <a:picLocks noChangeAspect="1"/>
          </p:cNvPicPr>
          <p:nvPr/>
        </p:nvPicPr>
        <p:blipFill>
          <a:blip r:embed="rId4">
            <a:extLst>
              <a:ext uri="{BEBA8EAE-BF5A-486C-A8C5-ECC9F3942E4B}">
                <a14:imgProps xmlns:a14="http://schemas.microsoft.com/office/drawing/2010/main">
                  <a14:imgLayer r:embed="rId5">
                    <a14:imgEffect>
                      <a14:backgroundRemoval t="0" b="100000" l="9912" r="89868"/>
                    </a14:imgEffect>
                  </a14:imgLayer>
                </a14:imgProps>
              </a:ext>
            </a:extLst>
          </a:blip>
          <a:stretch>
            <a:fillRect/>
          </a:stretch>
        </p:blipFill>
        <p:spPr>
          <a:xfrm>
            <a:off x="8825567" y="2269173"/>
            <a:ext cx="3208778" cy="3109829"/>
          </a:xfrm>
          <a:prstGeom prst="rect">
            <a:avLst/>
          </a:prstGeom>
        </p:spPr>
      </p:pic>
    </p:spTree>
    <p:extLst>
      <p:ext uri="{BB962C8B-B14F-4D97-AF65-F5344CB8AC3E}">
        <p14:creationId xmlns:p14="http://schemas.microsoft.com/office/powerpoint/2010/main" val="236781171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082F3-424B-9645-9185-D3861993FD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1ED024-BF08-52BE-9403-964C49692ABA}"/>
              </a:ext>
            </a:extLst>
          </p:cNvPr>
          <p:cNvSpPr>
            <a:spLocks noGrp="1"/>
          </p:cNvSpPr>
          <p:nvPr>
            <p:ph type="title"/>
          </p:nvPr>
        </p:nvSpPr>
        <p:spPr>
          <a:xfrm>
            <a:off x="1543532" y="524166"/>
            <a:ext cx="9021763" cy="677803"/>
          </a:xfrm>
        </p:spPr>
        <p:txBody>
          <a:bodyPr>
            <a:noAutofit/>
          </a:bodyPr>
          <a:lstStyle/>
          <a:p>
            <a:r>
              <a:rPr lang="en-US" sz="4000" b="1" dirty="0"/>
              <a:t>Morphological </a:t>
            </a:r>
            <a:r>
              <a:rPr lang="en-US" sz="4000" b="1" dirty="0" smtClean="0"/>
              <a:t>Importance</a:t>
            </a:r>
            <a:endParaRPr lang="en-US" sz="3200" b="1" dirty="0"/>
          </a:p>
        </p:txBody>
      </p:sp>
      <p:sp>
        <p:nvSpPr>
          <p:cNvPr id="3" name="Content Placeholder 2">
            <a:extLst>
              <a:ext uri="{FF2B5EF4-FFF2-40B4-BE49-F238E27FC236}">
                <a16:creationId xmlns:a16="http://schemas.microsoft.com/office/drawing/2014/main" id="{050F7664-AFEB-FC3F-3713-B80FC8F4B001}"/>
              </a:ext>
            </a:extLst>
          </p:cNvPr>
          <p:cNvSpPr>
            <a:spLocks noGrp="1"/>
          </p:cNvSpPr>
          <p:nvPr>
            <p:ph idx="1"/>
          </p:nvPr>
        </p:nvSpPr>
        <p:spPr>
          <a:xfrm>
            <a:off x="1492469" y="1828800"/>
            <a:ext cx="7502445" cy="4242068"/>
          </a:xfrm>
        </p:spPr>
        <p:txBody>
          <a:bodyPr>
            <a:noAutofit/>
          </a:bodyPr>
          <a:lstStyle/>
          <a:p>
            <a:pPr marL="0" indent="0" algn="just">
              <a:buNone/>
            </a:pPr>
            <a:r>
              <a:rPr lang="en-US" sz="2000" b="1" dirty="0"/>
              <a:t>Importance of Morphology in NLP</a:t>
            </a:r>
          </a:p>
          <a:p>
            <a:pPr marL="0" indent="0" algn="just">
              <a:buNone/>
            </a:pPr>
            <a:r>
              <a:rPr lang="en-US" sz="2000" dirty="0"/>
              <a:t>Morphological analysis plays a vital role in improving the accuracy and efficiency of NLP applications by helping computers understand word structures and relationships.</a:t>
            </a:r>
          </a:p>
          <a:p>
            <a:pPr marL="0" indent="0">
              <a:buNone/>
            </a:pPr>
            <a:r>
              <a:rPr lang="en-US" sz="2000" b="1" dirty="0"/>
              <a:t>Key Applications</a:t>
            </a:r>
            <a:endParaRPr lang="en-US" sz="2000" dirty="0"/>
          </a:p>
          <a:p>
            <a:pPr lvl="1">
              <a:buFont typeface="Arial" panose="020B0604020202020204" pitchFamily="34" charset="0"/>
              <a:buChar char="•"/>
            </a:pPr>
            <a:r>
              <a:rPr lang="en-US" sz="2000" b="1" dirty="0"/>
              <a:t>Tokenization:</a:t>
            </a:r>
            <a:r>
              <a:rPr lang="en-US" sz="2000" dirty="0"/>
              <a:t> Splits text into meaningful words or tokens. </a:t>
            </a:r>
          </a:p>
          <a:p>
            <a:pPr lvl="1">
              <a:buFont typeface="Arial" panose="020B0604020202020204" pitchFamily="34" charset="0"/>
              <a:buChar char="•"/>
            </a:pPr>
            <a:r>
              <a:rPr lang="en-US" sz="2000" b="1" dirty="0"/>
              <a:t>Stemming:</a:t>
            </a:r>
            <a:r>
              <a:rPr lang="en-US" sz="2000" dirty="0"/>
              <a:t> Removes prefixes or suffixes to obtain the root form.</a:t>
            </a:r>
          </a:p>
          <a:p>
            <a:pPr lvl="1">
              <a:buFont typeface="Arial" panose="020B0604020202020204" pitchFamily="34" charset="0"/>
              <a:buChar char="•"/>
            </a:pPr>
            <a:r>
              <a:rPr lang="en-US" sz="2000" b="1" dirty="0"/>
              <a:t>Part-of-Speech (POS) Tagging:</a:t>
            </a:r>
            <a:r>
              <a:rPr lang="en-US" sz="2000" dirty="0"/>
              <a:t> Identifies the grammatical role of each word</a:t>
            </a:r>
            <a:r>
              <a:rPr lang="en-US" sz="2000" dirty="0" smtClean="0"/>
              <a:t>.</a:t>
            </a:r>
          </a:p>
          <a:p>
            <a:pPr lvl="1">
              <a:buFont typeface="Arial" panose="020B0604020202020204" pitchFamily="34" charset="0"/>
              <a:buChar char="•"/>
            </a:pPr>
            <a:r>
              <a:rPr lang="en-US" sz="2000" b="1" dirty="0"/>
              <a:t>Text Classification &amp; Sentiment Analysis:</a:t>
            </a:r>
            <a:r>
              <a:rPr lang="en-US" sz="2000" dirty="0"/>
              <a:t> Enhances the understanding of text meaning and emotions.</a:t>
            </a:r>
            <a:endParaRPr lang="en-US" sz="2000" dirty="0"/>
          </a:p>
        </p:txBody>
      </p:sp>
      <p:pic>
        <p:nvPicPr>
          <p:cNvPr id="4" name="Picture 3">
            <a:extLst>
              <a:ext uri="{FF2B5EF4-FFF2-40B4-BE49-F238E27FC236}">
                <a16:creationId xmlns:a16="http://schemas.microsoft.com/office/drawing/2014/main" id="{F52EEF27-13AE-A3CF-CDA4-22FC847092FA}"/>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5" name="Picture 4">
            <a:extLst>
              <a:ext uri="{FF2B5EF4-FFF2-40B4-BE49-F238E27FC236}">
                <a16:creationId xmlns:a16="http://schemas.microsoft.com/office/drawing/2014/main" id="{B0611387-F2B3-1252-D6BD-930F31FA5AE1}"/>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pic>
        <p:nvPicPr>
          <p:cNvPr id="6" name="Picture 5"/>
          <p:cNvPicPr>
            <a:picLocks noChangeAspect="1"/>
          </p:cNvPicPr>
          <p:nvPr/>
        </p:nvPicPr>
        <p:blipFill rotWithShape="1">
          <a:blip r:embed="rId4">
            <a:extLst>
              <a:ext uri="{BEBA8EAE-BF5A-486C-A8C5-ECC9F3942E4B}">
                <a14:imgProps xmlns:a14="http://schemas.microsoft.com/office/drawing/2010/main">
                  <a14:imgLayer r:embed="rId5">
                    <a14:imgEffect>
                      <a14:backgroundRemoval t="4643" b="90714" l="10000" r="90000">
                        <a14:foregroundMark x1="38462" y1="30000" x2="38462" y2="30000"/>
                        <a14:foregroundMark x1="44231" y1="30000" x2="44231" y2="30000"/>
                        <a14:foregroundMark x1="49231" y1="31071" x2="49231" y2="31071"/>
                        <a14:foregroundMark x1="68846" y1="21071" x2="68846" y2="21071"/>
                      </a14:backgroundRemoval>
                    </a14:imgEffect>
                  </a14:imgLayer>
                </a14:imgProps>
              </a:ext>
            </a:extLst>
          </a:blip>
          <a:srcRect l="5764" r="13968" b="12360"/>
          <a:stretch/>
        </p:blipFill>
        <p:spPr>
          <a:xfrm>
            <a:off x="8994913" y="1956179"/>
            <a:ext cx="3140765" cy="3693018"/>
          </a:xfrm>
          <a:prstGeom prst="rect">
            <a:avLst/>
          </a:prstGeom>
        </p:spPr>
      </p:pic>
    </p:spTree>
    <p:extLst>
      <p:ext uri="{BB962C8B-B14F-4D97-AF65-F5344CB8AC3E}">
        <p14:creationId xmlns:p14="http://schemas.microsoft.com/office/powerpoint/2010/main" val="225920034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082F3-424B-9645-9185-D3861993FD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1ED024-BF08-52BE-9403-964C49692ABA}"/>
              </a:ext>
            </a:extLst>
          </p:cNvPr>
          <p:cNvSpPr>
            <a:spLocks noGrp="1"/>
          </p:cNvSpPr>
          <p:nvPr>
            <p:ph type="title"/>
          </p:nvPr>
        </p:nvSpPr>
        <p:spPr>
          <a:xfrm>
            <a:off x="1492470" y="449623"/>
            <a:ext cx="6137270" cy="826890"/>
          </a:xfrm>
        </p:spPr>
        <p:txBody>
          <a:bodyPr>
            <a:noAutofit/>
          </a:bodyPr>
          <a:lstStyle/>
          <a:p>
            <a:r>
              <a:rPr lang="en-US" sz="3200" b="1" dirty="0" smtClean="0"/>
              <a:t>Code</a:t>
            </a:r>
            <a:endParaRPr lang="en-US" sz="3200" b="1" dirty="0"/>
          </a:p>
        </p:txBody>
      </p:sp>
      <p:sp>
        <p:nvSpPr>
          <p:cNvPr id="3" name="Content Placeholder 2">
            <a:extLst>
              <a:ext uri="{FF2B5EF4-FFF2-40B4-BE49-F238E27FC236}">
                <a16:creationId xmlns:a16="http://schemas.microsoft.com/office/drawing/2014/main" id="{050F7664-AFEB-FC3F-3713-B80FC8F4B001}"/>
              </a:ext>
            </a:extLst>
          </p:cNvPr>
          <p:cNvSpPr>
            <a:spLocks noGrp="1"/>
          </p:cNvSpPr>
          <p:nvPr>
            <p:ph idx="1"/>
          </p:nvPr>
        </p:nvSpPr>
        <p:spPr>
          <a:xfrm>
            <a:off x="1492469" y="1518516"/>
            <a:ext cx="5956224" cy="5053191"/>
          </a:xfrm>
        </p:spPr>
        <p:txBody>
          <a:bodyPr>
            <a:noAutofit/>
          </a:bodyPr>
          <a:lstStyle/>
          <a:p>
            <a:pPr marL="0" indent="0" algn="just">
              <a:buNone/>
            </a:pPr>
            <a:r>
              <a:rPr lang="en-US" sz="1600" dirty="0"/>
              <a:t>import </a:t>
            </a:r>
            <a:r>
              <a:rPr lang="en-US" sz="1600" dirty="0" err="1"/>
              <a:t>nltk</a:t>
            </a:r>
            <a:endParaRPr lang="en-US" sz="1600" dirty="0"/>
          </a:p>
          <a:p>
            <a:pPr marL="0" indent="0" algn="just">
              <a:buNone/>
            </a:pPr>
            <a:r>
              <a:rPr lang="en-US" sz="1600" dirty="0"/>
              <a:t>from </a:t>
            </a:r>
            <a:r>
              <a:rPr lang="en-US" sz="1600" dirty="0" err="1"/>
              <a:t>nltk.stem</a:t>
            </a:r>
            <a:r>
              <a:rPr lang="en-US" sz="1600" dirty="0"/>
              <a:t> import </a:t>
            </a:r>
            <a:r>
              <a:rPr lang="en-US" sz="1600" dirty="0" err="1"/>
              <a:t>PorterStemmer</a:t>
            </a:r>
            <a:r>
              <a:rPr lang="en-US" sz="1600" dirty="0"/>
              <a:t>, </a:t>
            </a:r>
            <a:r>
              <a:rPr lang="en-US" sz="1600" dirty="0" err="1"/>
              <a:t>WordNetLemmatizer</a:t>
            </a:r>
            <a:endParaRPr lang="en-US" sz="1600" dirty="0"/>
          </a:p>
          <a:p>
            <a:pPr marL="0" indent="0" algn="just">
              <a:buNone/>
            </a:pPr>
            <a:r>
              <a:rPr lang="en-US" sz="1600" dirty="0" err="1"/>
              <a:t>nltk.download</a:t>
            </a:r>
            <a:r>
              <a:rPr lang="en-US" sz="1600" dirty="0"/>
              <a:t>('</a:t>
            </a:r>
            <a:r>
              <a:rPr lang="en-US" sz="1600" dirty="0" err="1"/>
              <a:t>wordnet</a:t>
            </a:r>
            <a:r>
              <a:rPr lang="en-US" sz="1600" dirty="0"/>
              <a:t>')</a:t>
            </a:r>
          </a:p>
          <a:p>
            <a:pPr marL="0" indent="0" algn="just">
              <a:buNone/>
            </a:pPr>
            <a:r>
              <a:rPr lang="en-US" sz="1600" dirty="0" err="1"/>
              <a:t>nltk.download</a:t>
            </a:r>
            <a:r>
              <a:rPr lang="en-US" sz="1600" dirty="0"/>
              <a:t>('omw-1.4')</a:t>
            </a:r>
          </a:p>
          <a:p>
            <a:pPr marL="0" indent="0" algn="just">
              <a:buNone/>
            </a:pPr>
            <a:r>
              <a:rPr lang="en-US" sz="1600" b="1" dirty="0"/>
              <a:t># Create objects</a:t>
            </a:r>
          </a:p>
          <a:p>
            <a:pPr marL="0" indent="0" algn="just">
              <a:buNone/>
            </a:pPr>
            <a:r>
              <a:rPr lang="en-US" sz="1600" dirty="0"/>
              <a:t>stemmer = </a:t>
            </a:r>
            <a:r>
              <a:rPr lang="en-US" sz="1600" dirty="0" err="1"/>
              <a:t>PorterStemmer</a:t>
            </a:r>
            <a:r>
              <a:rPr lang="en-US" sz="1600" dirty="0"/>
              <a:t>()</a:t>
            </a:r>
          </a:p>
          <a:p>
            <a:pPr marL="0" indent="0" algn="just">
              <a:buNone/>
            </a:pPr>
            <a:r>
              <a:rPr lang="en-US" sz="1600" dirty="0" err="1"/>
              <a:t>lemmatizer</a:t>
            </a:r>
            <a:r>
              <a:rPr lang="en-US" sz="1600" dirty="0"/>
              <a:t> = </a:t>
            </a:r>
            <a:r>
              <a:rPr lang="en-US" sz="1600" dirty="0" err="1"/>
              <a:t>WordNetLemmatizer</a:t>
            </a:r>
            <a:r>
              <a:rPr lang="en-US" sz="1600" dirty="0"/>
              <a:t>()</a:t>
            </a:r>
          </a:p>
          <a:p>
            <a:pPr marL="0" indent="0" algn="just">
              <a:buNone/>
            </a:pPr>
            <a:r>
              <a:rPr lang="en-US" sz="1600" b="1" dirty="0"/>
              <a:t># Sample words</a:t>
            </a:r>
          </a:p>
          <a:p>
            <a:pPr marL="0" indent="0" algn="just">
              <a:buNone/>
            </a:pPr>
            <a:r>
              <a:rPr lang="en-US" sz="1600" dirty="0"/>
              <a:t>words = ["cooking", "walked", "teachers", "unhappiness", "running", "reading"]</a:t>
            </a:r>
          </a:p>
          <a:p>
            <a:pPr marL="0" indent="0" algn="just">
              <a:buNone/>
            </a:pPr>
            <a:r>
              <a:rPr lang="en-US" sz="1600" dirty="0"/>
              <a:t>print("Morphological Analysis\n")</a:t>
            </a:r>
          </a:p>
          <a:p>
            <a:pPr marL="0" indent="0" algn="just">
              <a:buNone/>
            </a:pPr>
            <a:r>
              <a:rPr lang="en-US" sz="1600" dirty="0"/>
              <a:t>for word in words:</a:t>
            </a:r>
          </a:p>
          <a:p>
            <a:pPr marL="0" indent="0" algn="just">
              <a:buNone/>
            </a:pPr>
            <a:r>
              <a:rPr lang="en-US" sz="1600" dirty="0"/>
              <a:t>    stem = </a:t>
            </a:r>
            <a:r>
              <a:rPr lang="en-US" sz="1600" dirty="0" err="1"/>
              <a:t>stemmer.stem</a:t>
            </a:r>
            <a:r>
              <a:rPr lang="en-US" sz="1600" dirty="0"/>
              <a:t>(word)</a:t>
            </a:r>
          </a:p>
          <a:p>
            <a:pPr marL="0" indent="0" algn="just">
              <a:buNone/>
            </a:pPr>
            <a:r>
              <a:rPr lang="en-US" sz="1600" dirty="0"/>
              <a:t>    lemma = </a:t>
            </a:r>
            <a:r>
              <a:rPr lang="en-US" sz="1600" dirty="0" err="1"/>
              <a:t>lemmatizer.lemmatize</a:t>
            </a:r>
            <a:r>
              <a:rPr lang="en-US" sz="1600" dirty="0"/>
              <a:t>(word)</a:t>
            </a:r>
          </a:p>
          <a:p>
            <a:pPr marL="0" indent="0" algn="just">
              <a:buNone/>
            </a:pPr>
            <a:r>
              <a:rPr lang="en-US" sz="1600" dirty="0"/>
              <a:t>    print(</a:t>
            </a:r>
            <a:r>
              <a:rPr lang="en-US" sz="1600" dirty="0" err="1"/>
              <a:t>f"Original</a:t>
            </a:r>
            <a:r>
              <a:rPr lang="en-US" sz="1600" dirty="0"/>
              <a:t> Word : {word}")</a:t>
            </a:r>
          </a:p>
          <a:p>
            <a:pPr marL="0" indent="0" algn="just">
              <a:buNone/>
            </a:pPr>
            <a:r>
              <a:rPr lang="en-US" sz="1600" dirty="0"/>
              <a:t>    print(</a:t>
            </a:r>
            <a:r>
              <a:rPr lang="en-US" sz="1600" dirty="0" err="1"/>
              <a:t>f"Stem</a:t>
            </a:r>
            <a:r>
              <a:rPr lang="en-US" sz="1600" dirty="0"/>
              <a:t>          : {stem}")</a:t>
            </a:r>
          </a:p>
          <a:p>
            <a:pPr marL="0" indent="0" algn="just">
              <a:buNone/>
            </a:pPr>
            <a:r>
              <a:rPr lang="en-US" sz="1600" dirty="0"/>
              <a:t>    print(</a:t>
            </a:r>
            <a:r>
              <a:rPr lang="en-US" sz="1600" dirty="0" err="1"/>
              <a:t>f"Lemma</a:t>
            </a:r>
            <a:r>
              <a:rPr lang="en-US" sz="1600" dirty="0"/>
              <a:t>         : {lemma}")</a:t>
            </a:r>
          </a:p>
          <a:p>
            <a:pPr marL="0" indent="0" algn="just">
              <a:buNone/>
            </a:pPr>
            <a:r>
              <a:rPr lang="en-US" sz="1600" dirty="0"/>
              <a:t>    print("-" * 30)</a:t>
            </a:r>
            <a:endParaRPr lang="en-US" sz="1600" dirty="0"/>
          </a:p>
        </p:txBody>
      </p:sp>
      <p:pic>
        <p:nvPicPr>
          <p:cNvPr id="4" name="Picture 3">
            <a:extLst>
              <a:ext uri="{FF2B5EF4-FFF2-40B4-BE49-F238E27FC236}">
                <a16:creationId xmlns:a16="http://schemas.microsoft.com/office/drawing/2014/main" id="{F52EEF27-13AE-A3CF-CDA4-22FC847092FA}"/>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5" name="Picture 4">
            <a:extLst>
              <a:ext uri="{FF2B5EF4-FFF2-40B4-BE49-F238E27FC236}">
                <a16:creationId xmlns:a16="http://schemas.microsoft.com/office/drawing/2014/main" id="{B0611387-F2B3-1252-D6BD-930F31FA5AE1}"/>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sp>
        <p:nvSpPr>
          <p:cNvPr id="8" name="TextBox 7"/>
          <p:cNvSpPr txBox="1"/>
          <p:nvPr/>
        </p:nvSpPr>
        <p:spPr>
          <a:xfrm>
            <a:off x="7720264" y="451985"/>
            <a:ext cx="2793967" cy="6494085"/>
          </a:xfrm>
          <a:prstGeom prst="rect">
            <a:avLst/>
          </a:prstGeom>
          <a:noFill/>
        </p:spPr>
        <p:txBody>
          <a:bodyPr wrap="square" rtlCol="0">
            <a:spAutoFit/>
          </a:bodyPr>
          <a:lstStyle/>
          <a:p>
            <a:r>
              <a:rPr lang="en-US" sz="1600" b="1" dirty="0" smtClean="0"/>
              <a:t>Output:</a:t>
            </a:r>
          </a:p>
          <a:p>
            <a:r>
              <a:rPr lang="en-US" sz="1600" b="1" dirty="0"/>
              <a:t>Morphological </a:t>
            </a:r>
            <a:r>
              <a:rPr lang="en-US" sz="1600" b="1" dirty="0" smtClean="0"/>
              <a:t>Analysis</a:t>
            </a:r>
            <a:endParaRPr lang="en-US" sz="1600" b="1" dirty="0"/>
          </a:p>
          <a:p>
            <a:r>
              <a:rPr lang="en-US" sz="1600" dirty="0"/>
              <a:t>Original Word </a:t>
            </a:r>
            <a:r>
              <a:rPr lang="en-US" sz="1600" dirty="0" smtClean="0"/>
              <a:t>	: </a:t>
            </a:r>
            <a:r>
              <a:rPr lang="en-US" sz="1600" dirty="0"/>
              <a:t>playing</a:t>
            </a:r>
          </a:p>
          <a:p>
            <a:r>
              <a:rPr lang="en-US" sz="1600" dirty="0"/>
              <a:t>Stem          </a:t>
            </a:r>
            <a:r>
              <a:rPr lang="en-US" sz="1600" dirty="0" smtClean="0"/>
              <a:t>		: </a:t>
            </a:r>
            <a:r>
              <a:rPr lang="en-US" sz="1600" dirty="0"/>
              <a:t>play</a:t>
            </a:r>
          </a:p>
          <a:p>
            <a:r>
              <a:rPr lang="en-US" sz="1600" dirty="0"/>
              <a:t>Lemma        </a:t>
            </a:r>
            <a:r>
              <a:rPr lang="en-US" sz="1600" dirty="0" smtClean="0"/>
              <a:t>	: </a:t>
            </a:r>
            <a:r>
              <a:rPr lang="en-US" sz="1600" dirty="0"/>
              <a:t>playing</a:t>
            </a:r>
          </a:p>
          <a:p>
            <a:r>
              <a:rPr lang="en-US" sz="1600" dirty="0" smtClean="0"/>
              <a:t>------------------------------------------</a:t>
            </a:r>
            <a:endParaRPr lang="en-US" sz="1600" dirty="0"/>
          </a:p>
          <a:p>
            <a:r>
              <a:rPr lang="en-US" sz="1600" dirty="0"/>
              <a:t>Original Word </a:t>
            </a:r>
            <a:r>
              <a:rPr lang="en-US" sz="1600" dirty="0" smtClean="0"/>
              <a:t>	: </a:t>
            </a:r>
            <a:r>
              <a:rPr lang="en-US" sz="1600" dirty="0"/>
              <a:t>walked</a:t>
            </a:r>
          </a:p>
          <a:p>
            <a:r>
              <a:rPr lang="en-US" sz="1600" dirty="0"/>
              <a:t>Stem          </a:t>
            </a:r>
            <a:r>
              <a:rPr lang="en-US" sz="1600" dirty="0" smtClean="0"/>
              <a:t>		: </a:t>
            </a:r>
            <a:r>
              <a:rPr lang="en-US" sz="1600" dirty="0"/>
              <a:t>walk</a:t>
            </a:r>
          </a:p>
          <a:p>
            <a:r>
              <a:rPr lang="en-US" sz="1600" dirty="0"/>
              <a:t>Lemma         </a:t>
            </a:r>
            <a:r>
              <a:rPr lang="en-US" sz="1600" dirty="0" smtClean="0"/>
              <a:t>	: </a:t>
            </a:r>
            <a:r>
              <a:rPr lang="en-US" sz="1600" dirty="0"/>
              <a:t>walked</a:t>
            </a:r>
          </a:p>
          <a:p>
            <a:r>
              <a:rPr lang="en-US" sz="1600" dirty="0" smtClean="0"/>
              <a:t>------------------------------------------</a:t>
            </a:r>
            <a:endParaRPr lang="en-US" sz="1600" dirty="0"/>
          </a:p>
          <a:p>
            <a:r>
              <a:rPr lang="en-US" sz="1600" dirty="0"/>
              <a:t>Original Word </a:t>
            </a:r>
            <a:r>
              <a:rPr lang="en-US" sz="1600" dirty="0" smtClean="0"/>
              <a:t>	: </a:t>
            </a:r>
            <a:r>
              <a:rPr lang="en-US" sz="1600" dirty="0"/>
              <a:t>teachers</a:t>
            </a:r>
          </a:p>
          <a:p>
            <a:r>
              <a:rPr lang="en-US" sz="1600" dirty="0"/>
              <a:t>Stem          </a:t>
            </a:r>
            <a:r>
              <a:rPr lang="en-US" sz="1600" dirty="0" smtClean="0"/>
              <a:t>		: </a:t>
            </a:r>
            <a:r>
              <a:rPr lang="en-US" sz="1600" dirty="0"/>
              <a:t>teacher</a:t>
            </a:r>
          </a:p>
          <a:p>
            <a:r>
              <a:rPr lang="en-US" sz="1600" dirty="0"/>
              <a:t>Lemma         </a:t>
            </a:r>
            <a:r>
              <a:rPr lang="en-US" sz="1600" dirty="0" smtClean="0"/>
              <a:t>	: </a:t>
            </a:r>
            <a:r>
              <a:rPr lang="en-US" sz="1600" dirty="0"/>
              <a:t>teacher</a:t>
            </a:r>
          </a:p>
          <a:p>
            <a:r>
              <a:rPr lang="en-US" sz="1600" dirty="0" smtClean="0"/>
              <a:t>------------------------------------------</a:t>
            </a:r>
            <a:endParaRPr lang="en-US" sz="1600" dirty="0"/>
          </a:p>
          <a:p>
            <a:r>
              <a:rPr lang="en-US" sz="1600" dirty="0"/>
              <a:t>Original Word </a:t>
            </a:r>
            <a:r>
              <a:rPr lang="en-US" sz="1600" dirty="0" smtClean="0"/>
              <a:t>	: </a:t>
            </a:r>
            <a:r>
              <a:rPr lang="en-US" sz="1600" dirty="0"/>
              <a:t>unhappiness</a:t>
            </a:r>
          </a:p>
          <a:p>
            <a:r>
              <a:rPr lang="en-US" sz="1600" dirty="0"/>
              <a:t>Stem          </a:t>
            </a:r>
            <a:r>
              <a:rPr lang="en-US" sz="1600" dirty="0" smtClean="0"/>
              <a:t>		: </a:t>
            </a:r>
            <a:r>
              <a:rPr lang="en-US" sz="1600" dirty="0" err="1"/>
              <a:t>unhappi</a:t>
            </a:r>
            <a:endParaRPr lang="en-US" sz="1600" dirty="0"/>
          </a:p>
          <a:p>
            <a:r>
              <a:rPr lang="en-US" sz="1600" dirty="0"/>
              <a:t>Lemma         </a:t>
            </a:r>
            <a:r>
              <a:rPr lang="en-US" sz="1600" dirty="0" smtClean="0"/>
              <a:t>	: </a:t>
            </a:r>
            <a:r>
              <a:rPr lang="en-US" sz="1600" dirty="0"/>
              <a:t>unhappiness</a:t>
            </a:r>
          </a:p>
          <a:p>
            <a:r>
              <a:rPr lang="en-US" sz="1600" dirty="0" smtClean="0"/>
              <a:t>------------------------------------------</a:t>
            </a:r>
            <a:endParaRPr lang="en-US" sz="1600" dirty="0"/>
          </a:p>
          <a:p>
            <a:r>
              <a:rPr lang="en-US" sz="1600" dirty="0"/>
              <a:t>Original Word </a:t>
            </a:r>
            <a:r>
              <a:rPr lang="en-US" sz="1600" dirty="0" smtClean="0"/>
              <a:t>	: </a:t>
            </a:r>
            <a:r>
              <a:rPr lang="en-US" sz="1600" dirty="0"/>
              <a:t>running</a:t>
            </a:r>
          </a:p>
          <a:p>
            <a:r>
              <a:rPr lang="en-US" sz="1600" dirty="0"/>
              <a:t>Stem          </a:t>
            </a:r>
            <a:r>
              <a:rPr lang="en-US" sz="1600" dirty="0" smtClean="0"/>
              <a:t>		: </a:t>
            </a:r>
            <a:r>
              <a:rPr lang="en-US" sz="1600" dirty="0"/>
              <a:t>run</a:t>
            </a:r>
          </a:p>
          <a:p>
            <a:r>
              <a:rPr lang="en-US" sz="1600" dirty="0"/>
              <a:t>Lemma         </a:t>
            </a:r>
            <a:r>
              <a:rPr lang="en-US" sz="1600" dirty="0" smtClean="0"/>
              <a:t>	: </a:t>
            </a:r>
            <a:r>
              <a:rPr lang="en-US" sz="1600" dirty="0"/>
              <a:t>running</a:t>
            </a:r>
          </a:p>
          <a:p>
            <a:r>
              <a:rPr lang="en-US" sz="1600" dirty="0" smtClean="0"/>
              <a:t>------------------------------------------</a:t>
            </a:r>
            <a:endParaRPr lang="en-US" sz="1600" dirty="0"/>
          </a:p>
          <a:p>
            <a:r>
              <a:rPr lang="en-US" sz="1600" dirty="0"/>
              <a:t>Original Word </a:t>
            </a:r>
            <a:r>
              <a:rPr lang="en-US" sz="1600" dirty="0" smtClean="0"/>
              <a:t>	: </a:t>
            </a:r>
            <a:r>
              <a:rPr lang="en-US" sz="1600" dirty="0"/>
              <a:t>studies</a:t>
            </a:r>
          </a:p>
          <a:p>
            <a:r>
              <a:rPr lang="en-US" sz="1600" dirty="0"/>
              <a:t>Stem          </a:t>
            </a:r>
            <a:r>
              <a:rPr lang="en-US" sz="1600" dirty="0" smtClean="0"/>
              <a:t>		: </a:t>
            </a:r>
            <a:r>
              <a:rPr lang="en-US" sz="1600" dirty="0" err="1"/>
              <a:t>studi</a:t>
            </a:r>
            <a:endParaRPr lang="en-US" sz="1600" dirty="0"/>
          </a:p>
          <a:p>
            <a:r>
              <a:rPr lang="en-US" sz="1600" dirty="0"/>
              <a:t>Lemma         </a:t>
            </a:r>
            <a:r>
              <a:rPr lang="en-US" sz="1600" dirty="0" smtClean="0"/>
              <a:t>	: </a:t>
            </a:r>
            <a:r>
              <a:rPr lang="en-US" sz="1600" dirty="0"/>
              <a:t>study</a:t>
            </a:r>
          </a:p>
          <a:p>
            <a:r>
              <a:rPr lang="en-US" sz="1600" dirty="0" smtClean="0"/>
              <a:t>------------------------------------------</a:t>
            </a:r>
            <a:endParaRPr lang="en-US" sz="1600" dirty="0"/>
          </a:p>
        </p:txBody>
      </p:sp>
    </p:spTree>
    <p:extLst>
      <p:ext uri="{BB962C8B-B14F-4D97-AF65-F5344CB8AC3E}">
        <p14:creationId xmlns:p14="http://schemas.microsoft.com/office/powerpoint/2010/main" val="336871650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2469" y="493653"/>
            <a:ext cx="9021763" cy="738829"/>
          </a:xfrm>
        </p:spPr>
        <p:txBody>
          <a:bodyPr>
            <a:normAutofit/>
          </a:bodyPr>
          <a:lstStyle/>
          <a:p>
            <a:r>
              <a:rPr lang="en-US" sz="4000" b="1" dirty="0" smtClean="0"/>
              <a:t>CONCLUSION</a:t>
            </a:r>
            <a:endParaRPr lang="en-US" sz="4000" b="1" dirty="0"/>
          </a:p>
        </p:txBody>
      </p:sp>
      <p:sp>
        <p:nvSpPr>
          <p:cNvPr id="3" name="Content Placeholder 2"/>
          <p:cNvSpPr>
            <a:spLocks noGrp="1"/>
          </p:cNvSpPr>
          <p:nvPr>
            <p:ph idx="1"/>
          </p:nvPr>
        </p:nvSpPr>
        <p:spPr>
          <a:xfrm>
            <a:off x="1492469" y="1733292"/>
            <a:ext cx="6886449" cy="4717203"/>
          </a:xfrm>
        </p:spPr>
        <p:txBody>
          <a:bodyPr>
            <a:normAutofit/>
          </a:bodyPr>
          <a:lstStyle/>
          <a:p>
            <a:pPr algn="just">
              <a:lnSpc>
                <a:spcPct val="150000"/>
              </a:lnSpc>
            </a:pPr>
            <a:r>
              <a:rPr lang="en-US" sz="2400" dirty="0"/>
              <a:t>Morphology is an important component of Natural Language Processing because it helps computers understand how words are formed and related. </a:t>
            </a:r>
            <a:endParaRPr lang="en-US" sz="2400" dirty="0" smtClean="0"/>
          </a:p>
          <a:p>
            <a:pPr algn="just">
              <a:lnSpc>
                <a:spcPct val="150000"/>
              </a:lnSpc>
            </a:pPr>
            <a:r>
              <a:rPr lang="en-US" sz="2400" dirty="0" smtClean="0"/>
              <a:t>By </a:t>
            </a:r>
            <a:r>
              <a:rPr lang="en-US" sz="2400" dirty="0"/>
              <a:t>analyzing morphemes and word formation, NLP systems can process text more accurately, leading to better performance in applications such as translation, search engines, speech recognition, and virtual assistants.</a:t>
            </a:r>
            <a:endParaRPr lang="en-US" sz="2400" dirty="0"/>
          </a:p>
        </p:txBody>
      </p:sp>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pic>
        <p:nvPicPr>
          <p:cNvPr id="6" name="Picture 5"/>
          <p:cNvPicPr>
            <a:picLocks noChangeAspect="1"/>
          </p:cNvPicPr>
          <p:nvPr/>
        </p:nvPicPr>
        <p:blipFill>
          <a:blip r:embed="rId4"/>
          <a:stretch>
            <a:fillRect/>
          </a:stretch>
        </p:blipFill>
        <p:spPr>
          <a:xfrm>
            <a:off x="8830800" y="2465628"/>
            <a:ext cx="2992001" cy="3252529"/>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4631" y="2857500"/>
            <a:ext cx="11582507" cy="1143000"/>
          </a:xfrm>
        </p:spPr>
        <p:txBody>
          <a:bodyPr>
            <a:normAutofit fontScale="90000"/>
          </a:bodyPr>
          <a:lstStyle/>
          <a:p>
            <a:r>
              <a:rPr lang="en-US" sz="7200" b="1" dirty="0" smtClean="0"/>
              <a:t>THANK YOU!</a:t>
            </a:r>
            <a:endParaRPr lang="en-US" sz="7200" b="1"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1610</TotalTime>
  <Words>438</Words>
  <Application>Microsoft Office PowerPoint</Application>
  <PresentationFormat>Widescreen</PresentationFormat>
  <Paragraphs>100</Paragraphs>
  <Slides>9</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Arial</vt:lpstr>
      <vt:lpstr>Calibri</vt:lpstr>
      <vt:lpstr>Office Theme</vt:lpstr>
      <vt:lpstr>Morphology and Word Formation in Natural Languages</vt:lpstr>
      <vt:lpstr>INTRODUCTION</vt:lpstr>
      <vt:lpstr>Morphemes and Word Formation</vt:lpstr>
      <vt:lpstr>Word Formation</vt:lpstr>
      <vt:lpstr>Morphological Analysis </vt:lpstr>
      <vt:lpstr>Morphological Importance</vt:lpstr>
      <vt:lpstr>Code</vt:lpstr>
      <vt:lpstr>CONCLUSION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Project Title</dc:title>
  <dc:subject/>
  <dc:creator>sankar</dc:creator>
  <cp:keywords/>
  <dc:description>generated using python-pptx</dc:description>
  <cp:lastModifiedBy>Rayan</cp:lastModifiedBy>
  <cp:revision>88</cp:revision>
  <cp:lastPrinted>2026-07-15T05:17:06Z</cp:lastPrinted>
  <dcterms:created xsi:type="dcterms:W3CDTF">2013-01-27T09:14:16Z</dcterms:created>
  <dcterms:modified xsi:type="dcterms:W3CDTF">2026-07-15T06:28:50Z</dcterms:modified>
  <cp:category/>
</cp:coreProperties>
</file>